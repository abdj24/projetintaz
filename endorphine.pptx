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C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D2A737-146F-767A-7914-C5E786A58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69BEC01-BE2B-A01C-2964-4BEAE8413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0F172A-9A09-1E20-6FB7-D5A1B5033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7A9FA7-3150-9673-D5F3-A84A4793C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01F1BF-0009-E054-F36F-C0207458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4741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D754B4-7BA6-FEBF-A146-8F22DDE1E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0C2228-AED6-FB66-E1D5-262781671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1DCB74-F24D-5BD3-C65E-12ECFCF83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F6CD05-300A-065E-31B0-8B25C6B48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66CD10-DE2C-584B-CC6A-E9764201D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00171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8B1C02-6F2C-87F3-94E3-F778E2BF9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2B4A0D-C3F0-F0F3-764D-48ACB20CB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93EADA-FB04-7835-DCC2-0741A6FEE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821B39-94D4-455B-62B1-447A43006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92B891-BF85-A80D-98B5-FD76248EC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52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45AA27-DBDB-39E6-12E7-AAC759D5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1DF6BD-8FCD-C6F3-6B5D-397CE73EA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38CD62-DDBE-038D-734D-E6E5F9035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0A7E82-6B54-B528-4A42-15A543169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159AE9-B21C-C96D-D392-61CD4D32F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D89B9F-F375-5900-1CBD-DE58B7031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32162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DA5F34-4EC6-5AFE-B3D5-9536C95F8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9E0D41-EE23-20FD-A111-DB6B272BC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6626C7-838F-DC1F-2854-3AD088249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DAC4FB9-AC14-356D-97AF-098EC5F549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7D61C0A-CD61-40BD-CAD9-66108A285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E054AC5-2EF0-5590-1C8A-8E21A4834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941C5A8-BF70-837F-75BE-EF0B7B03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41038EC-3ABF-EBEA-6D30-2D78125E2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85324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FB9AC1-E12D-B541-C27E-7E1C8218A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5653A83-A082-DD85-1789-6ADFE6F0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598C7E-88F4-D8BC-CC4A-F029BBFFE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BB95E6-F234-B336-F426-F7B140FDC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24698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A1BFC68-A731-40B1-2E8A-84EB2CFD6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64EA3ED-F6B0-FFF4-CF13-0BB93CA5C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63EBA3-9084-C7E3-1D1B-4610DD3F8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0003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58CCA3-6F33-04CD-8316-9E43DB06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236BB9-83CB-6E35-F8EF-3D5C3BAF4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19A1BCB-941E-31AD-1A16-74232965A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4499FF8-E3DC-7502-90D9-31C404589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676D392-DA01-734F-37ED-FB6AC0C02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EB6132-DB57-AB77-D43C-9BCC1B44C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7197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155061-94AA-EF00-091A-3084F624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2E94947-331E-BAB0-FFEB-9341697418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8E3812-3D79-507E-D059-41CAEF47B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E3D906-B84B-5EAB-867C-789DD0856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C76FB93-C2CA-71E1-F467-3E9283859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AF96ACB-79B1-D0AA-99FD-85B7620E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70941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9A1D86-F5EE-F9B6-B530-ED5B93F88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66A38B-1F85-12BB-69B3-FEA8C991F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F50338-62E9-C72F-7FB4-AF63C12AA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0DED22-78AA-6B22-728F-D8E39F637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85C5E1-4A4C-A830-D300-876FAEBA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48404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227B936-D7F4-5B6A-D50A-766774BB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0E0F57-51A6-87C3-FDBD-138128A4B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A27504-C9B7-24E8-9B73-2196D03E7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C8F73B-306E-5373-75D8-3F61FA5D5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1FE713-BEB6-F59F-E849-70D4C53F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73448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A539089-0D7A-60C2-F2E6-08100E7F0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71FF32-AABC-9C79-059C-E4F22D3DA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BDED6-4BD7-3FD4-35DA-B5B4BB7A9E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60621-5619-4057-A7A9-EECED4F393DD}" type="datetimeFigureOut">
              <a:rPr lang="fr-CA" smtClean="0"/>
              <a:t>2026-02-06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481841-DC78-29CF-D0B5-8B8FF90B2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2115E3-A77D-9582-5A85-0D2A5D55E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45493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microsoft.com/office/2007/relationships/hdphoto" Target="../media/hdphoto4.wdp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microsoft.com/office/2007/relationships/hdphoto" Target="../media/hdphoto3.wdp"/><Relationship Id="rId5" Type="http://schemas.openxmlformats.org/officeDocument/2006/relationships/image" Target="../media/image8.png"/><Relationship Id="rId10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microsoft.com/office/2007/relationships/hdphoto" Target="../media/hdphoto1.wdp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microsoft.com/office/2007/relationships/hdphoto" Target="../media/hdphoto1.wdp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hdphoto" Target="../media/hdphoto1.wdp"/><Relationship Id="rId7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microsoft.com/office/2007/relationships/hdphoto" Target="../media/hdphoto1.wdp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3.png"/><Relationship Id="rId5" Type="http://schemas.openxmlformats.org/officeDocument/2006/relationships/image" Target="../media/image16.png"/><Relationship Id="rId10" Type="http://schemas.openxmlformats.org/officeDocument/2006/relationships/image" Target="../media/image19.png"/><Relationship Id="rId4" Type="http://schemas.openxmlformats.org/officeDocument/2006/relationships/image" Target="../media/image20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microsoft.com/office/2007/relationships/hdphoto" Target="../media/hdphoto1.wdp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17.png"/><Relationship Id="rId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21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microsoft.com/office/2007/relationships/hdphoto" Target="../media/hdphoto1.wdp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3.png"/><Relationship Id="rId4" Type="http://schemas.openxmlformats.org/officeDocument/2006/relationships/image" Target="../media/image27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B0EDD03B-B59A-6C08-05B7-A52B53E24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To create a &quot;vignette&quot; with the gradients tools - Pre-V2 Archive of iPad  Questions - Affinity | Forum">
            <a:extLst>
              <a:ext uri="{FF2B5EF4-FFF2-40B4-BE49-F238E27FC236}">
                <a16:creationId xmlns:a16="http://schemas.microsoft.com/office/drawing/2014/main" id="{900CEB19-42A9-61CA-BEB5-90AF33BBF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earch Bar Icon PNGs for Free Download">
            <a:extLst>
              <a:ext uri="{FF2B5EF4-FFF2-40B4-BE49-F238E27FC236}">
                <a16:creationId xmlns:a16="http://schemas.microsoft.com/office/drawing/2014/main" id="{5178C310-2D79-B4A8-9086-B43307728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269" y="476251"/>
            <a:ext cx="9105806" cy="4552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F503F75-6BE3-DBE9-1AB1-4B7E54CBB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1928674"/>
            <a:ext cx="7724776" cy="1571718"/>
          </a:xfrm>
        </p:spPr>
        <p:txBody>
          <a:bodyPr>
            <a:normAutofit/>
          </a:bodyPr>
          <a:lstStyle/>
          <a:p>
            <a:r>
              <a:rPr lang="fr-CA" sz="9600" i="1" kern="0" spc="-700" dirty="0">
                <a:latin typeface="Arial Rounded MT Bold" panose="020F0704030504030204" pitchFamily="34" charset="0"/>
              </a:rPr>
              <a:t>endorphine.</a:t>
            </a:r>
            <a:endParaRPr lang="fr-CA" sz="12400" i="1" kern="0" spc="-700" dirty="0">
              <a:latin typeface="Arial Rounded MT Bold" panose="020F0704030504030204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C8959F2-B436-DA1D-4C9F-FD5994477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3743232"/>
            <a:ext cx="4114801" cy="1571718"/>
          </a:xfrm>
        </p:spPr>
        <p:txBody>
          <a:bodyPr>
            <a:normAutofit/>
          </a:bodyPr>
          <a:lstStyle/>
          <a:p>
            <a:pPr algn="l">
              <a:lnSpc>
                <a:spcPct val="50000"/>
              </a:lnSpc>
            </a:pPr>
            <a:r>
              <a:rPr lang="fr-CA" sz="3200" i="1" spc="-300" dirty="0">
                <a:latin typeface="Arial Rounded MT Bold" panose="020F0704030504030204" pitchFamily="34" charset="0"/>
              </a:rPr>
              <a:t>Benoudina </a:t>
            </a:r>
            <a:r>
              <a:rPr lang="fr-CA" sz="3200" i="1" spc="-3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Abdel Djallil</a:t>
            </a:r>
          </a:p>
          <a:p>
            <a:pPr algn="l">
              <a:lnSpc>
                <a:spcPct val="50000"/>
              </a:lnSpc>
            </a:pPr>
            <a:r>
              <a:rPr lang="fr-CA" sz="3200" i="1" u="sng" spc="-3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Boussetta </a:t>
            </a:r>
            <a:r>
              <a:rPr lang="fr-CA" sz="3200" i="1" u="sng" spc="-300" dirty="0">
                <a:latin typeface="Arial Rounded MT Bold" panose="020F0704030504030204" pitchFamily="34" charset="0"/>
              </a:rPr>
              <a:t>Zied</a:t>
            </a:r>
          </a:p>
          <a:p>
            <a:pPr algn="l">
              <a:lnSpc>
                <a:spcPct val="50000"/>
              </a:lnSpc>
            </a:pPr>
            <a:r>
              <a:rPr lang="fr-CA" sz="3200" i="1" u="sng" spc="-300" dirty="0">
                <a:latin typeface="Arial Rounded MT Bold" panose="020F0704030504030204" pitchFamily="34" charset="0"/>
              </a:rPr>
              <a:t>420</a:t>
            </a:r>
            <a:r>
              <a:rPr lang="fr-CA" sz="3200" i="1" u="sng" spc="-3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-</a:t>
            </a:r>
            <a:r>
              <a:rPr lang="fr-CA" sz="3200" i="1" u="sng" spc="-300" dirty="0">
                <a:latin typeface="Arial Rounded MT Bold" panose="020F0704030504030204" pitchFamily="34" charset="0"/>
              </a:rPr>
              <a:t>SF4</a:t>
            </a:r>
            <a:r>
              <a:rPr lang="fr-CA" sz="3200" i="1" u="sng" spc="-3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-</a:t>
            </a:r>
            <a:r>
              <a:rPr lang="fr-CA" sz="3200" i="1" u="sng" spc="-300" dirty="0">
                <a:latin typeface="Arial Rounded MT Bold" panose="020F0704030504030204" pitchFamily="34" charset="0"/>
              </a:rPr>
              <a:t>RE</a:t>
            </a:r>
            <a:endParaRPr lang="fr-CA" sz="3200" i="1" spc="-300" dirty="0">
              <a:latin typeface="Arial Rounded MT Bold" panose="020F0704030504030204" pitchFamily="34" charset="0"/>
            </a:endParaRPr>
          </a:p>
          <a:p>
            <a:pPr algn="l">
              <a:lnSpc>
                <a:spcPct val="50000"/>
              </a:lnSpc>
            </a:pPr>
            <a:r>
              <a:rPr lang="fr-CA" sz="3200" i="1" spc="-3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6</a:t>
            </a:r>
            <a:r>
              <a:rPr lang="fr-CA" sz="3200" i="1" spc="-300" dirty="0">
                <a:latin typeface="Arial Rounded MT Bold" panose="020F0704030504030204" pitchFamily="34" charset="0"/>
              </a:rPr>
              <a:t> février </a:t>
            </a:r>
            <a:r>
              <a:rPr lang="fr-CA" sz="3200" i="1" spc="-3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2026</a:t>
            </a:r>
          </a:p>
        </p:txBody>
      </p:sp>
      <p:pic>
        <p:nvPicPr>
          <p:cNvPr id="1026" name="Picture 2" descr="Passionné de sports ! - Scan-R">
            <a:extLst>
              <a:ext uri="{FF2B5EF4-FFF2-40B4-BE49-F238E27FC236}">
                <a16:creationId xmlns:a16="http://schemas.microsoft.com/office/drawing/2014/main" id="{82953567-D2EC-3236-0986-4F375E0996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 radius="1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397" t="63649" r="41493" b="20167"/>
          <a:stretch>
            <a:fillRect/>
          </a:stretch>
        </p:blipFill>
        <p:spPr bwMode="auto">
          <a:xfrm>
            <a:off x="-1602556" y="-1"/>
            <a:ext cx="6876306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assionné de sports ! - Scan-R">
            <a:extLst>
              <a:ext uri="{FF2B5EF4-FFF2-40B4-BE49-F238E27FC236}">
                <a16:creationId xmlns:a16="http://schemas.microsoft.com/office/drawing/2014/main" id="{8B887BB0-B66C-5DF8-0AF0-4626F70C0C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 radius="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850" t="63194" r="42642" b="18953"/>
          <a:stretch>
            <a:fillRect/>
          </a:stretch>
        </p:blipFill>
        <p:spPr bwMode="auto">
          <a:xfrm>
            <a:off x="-1112363" y="0"/>
            <a:ext cx="561405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Ever wonder why your mouse cursor is slanted? | by ajiitha | Prototypr">
            <a:extLst>
              <a:ext uri="{FF2B5EF4-FFF2-40B4-BE49-F238E27FC236}">
                <a16:creationId xmlns:a16="http://schemas.microsoft.com/office/drawing/2014/main" id="{82FB55CF-77B7-BD15-E45E-6892E140F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9079" y="10335604"/>
            <a:ext cx="1732039" cy="2474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0B5AEF2-4746-95F6-0722-AE01F22AE431}"/>
              </a:ext>
            </a:extLst>
          </p:cNvPr>
          <p:cNvSpPr txBox="1"/>
          <p:nvPr/>
        </p:nvSpPr>
        <p:spPr>
          <a:xfrm>
            <a:off x="2833535" y="10330819"/>
            <a:ext cx="1795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4000" i="1" dirty="0">
                <a:latin typeface="Arial Rounded MT Bold" panose="020F0704030504030204" pitchFamily="34" charset="0"/>
              </a:rPr>
              <a:t>Sport.</a:t>
            </a:r>
            <a:endParaRPr lang="fr-CA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02D55EB-F68B-9794-B85C-8AF5E113DF79}"/>
              </a:ext>
            </a:extLst>
          </p:cNvPr>
          <p:cNvSpPr txBox="1"/>
          <p:nvPr/>
        </p:nvSpPr>
        <p:spPr>
          <a:xfrm>
            <a:off x="1082650" y="10908263"/>
            <a:ext cx="35461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4000" i="1" dirty="0">
                <a:latin typeface="Arial Rounded MT Bold" panose="020F0704030504030204" pitchFamily="34" charset="0"/>
              </a:rPr>
              <a:t>Informatique.</a:t>
            </a:r>
            <a:endParaRPr lang="fr-CA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C17BBAB-B575-A131-E39A-7DB41C466B50}"/>
              </a:ext>
            </a:extLst>
          </p:cNvPr>
          <p:cNvSpPr txBox="1"/>
          <p:nvPr/>
        </p:nvSpPr>
        <p:spPr>
          <a:xfrm>
            <a:off x="382562" y="11409507"/>
            <a:ext cx="4087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sz="4000" i="1" dirty="0">
                <a:latin typeface="Arial Rounded MT Bold" panose="020F0704030504030204" pitchFamily="34" charset="0"/>
              </a:rPr>
              <a:t>Développement web.</a:t>
            </a:r>
            <a:endParaRPr lang="fr-CA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BDE1AE4-B288-B907-767F-072E6969CB1B}"/>
              </a:ext>
            </a:extLst>
          </p:cNvPr>
          <p:cNvSpPr txBox="1"/>
          <p:nvPr/>
        </p:nvSpPr>
        <p:spPr>
          <a:xfrm>
            <a:off x="382562" y="12539693"/>
            <a:ext cx="4087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sz="4000" i="1" dirty="0">
                <a:latin typeface="Arial Rounded MT Bold" panose="020F0704030504030204" pitchFamily="34" charset="0"/>
              </a:rPr>
              <a:t>Toutes formes d’arts.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591230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C82EC3FF-DD3F-B0AC-7C96-B4C0755C4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AF87ADD-8F05-0088-AB9E-6AA08BA06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sz="9600" i="1" kern="0" spc="-700" dirty="0">
                <a:latin typeface="Arial Rounded MT Bold" panose="020F0704030504030204" pitchFamily="34" charset="0"/>
              </a:rPr>
              <a:t>L’équipe :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BCC3F3-4B7C-C182-461C-3A5E8963F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11424" cy="551815"/>
          </a:xfrm>
        </p:spPr>
        <p:txBody>
          <a:bodyPr/>
          <a:lstStyle/>
          <a:p>
            <a:r>
              <a:rPr lang="fr-CA" i="1" dirty="0">
                <a:latin typeface="Arial Rounded MT Bold" panose="020F0704030504030204" pitchFamily="34" charset="0"/>
              </a:rPr>
              <a:t>Abdel &amp; Zied :</a:t>
            </a:r>
          </a:p>
        </p:txBody>
      </p:sp>
      <p:pic>
        <p:nvPicPr>
          <p:cNvPr id="1026" name="Picture 2" descr="Technology Icon Graphic by rangervector · Creative Fabrica">
            <a:extLst>
              <a:ext uri="{FF2B5EF4-FFF2-40B4-BE49-F238E27FC236}">
                <a16:creationId xmlns:a16="http://schemas.microsoft.com/office/drawing/2014/main" id="{6811220F-6ABA-8EBC-E938-E11F04BC6B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85" t="17724" r="32137" b="21211"/>
          <a:stretch>
            <a:fillRect/>
          </a:stretch>
        </p:blipFill>
        <p:spPr bwMode="auto">
          <a:xfrm rot="10800000">
            <a:off x="8562975" y="-403225"/>
            <a:ext cx="3629025" cy="418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ort basketball football balls - Free Icon PNG, SVG">
            <a:extLst>
              <a:ext uri="{FF2B5EF4-FFF2-40B4-BE49-F238E27FC236}">
                <a16:creationId xmlns:a16="http://schemas.microsoft.com/office/drawing/2014/main" id="{EC5398AB-F7B0-C9E3-1798-60F70D32D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575" y="899160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176F910-39BF-30F7-9A45-184370896449}"/>
              </a:ext>
            </a:extLst>
          </p:cNvPr>
          <p:cNvSpPr txBox="1"/>
          <p:nvPr/>
        </p:nvSpPr>
        <p:spPr>
          <a:xfrm>
            <a:off x="2833535" y="2924179"/>
            <a:ext cx="1795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4000" i="1" dirty="0">
                <a:latin typeface="Arial Rounded MT Bold" panose="020F0704030504030204" pitchFamily="34" charset="0"/>
              </a:rPr>
              <a:t>Sport.</a:t>
            </a:r>
            <a:endParaRPr lang="fr-CA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4A4888F-C017-6275-650D-18EE591862B9}"/>
              </a:ext>
            </a:extLst>
          </p:cNvPr>
          <p:cNvSpPr txBox="1"/>
          <p:nvPr/>
        </p:nvSpPr>
        <p:spPr>
          <a:xfrm>
            <a:off x="1082650" y="3501623"/>
            <a:ext cx="35461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4000" i="1" dirty="0">
                <a:latin typeface="Arial Rounded MT Bold" panose="020F0704030504030204" pitchFamily="34" charset="0"/>
              </a:rPr>
              <a:t>Informatique.</a:t>
            </a:r>
            <a:endParaRPr lang="fr-CA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36F66FE-17FC-1BF9-8C04-A961B8E997D6}"/>
              </a:ext>
            </a:extLst>
          </p:cNvPr>
          <p:cNvSpPr txBox="1"/>
          <p:nvPr/>
        </p:nvSpPr>
        <p:spPr>
          <a:xfrm>
            <a:off x="382562" y="4002867"/>
            <a:ext cx="4087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sz="4000" i="1" dirty="0">
                <a:latin typeface="Arial Rounded MT Bold" panose="020F0704030504030204" pitchFamily="34" charset="0"/>
              </a:rPr>
              <a:t>Développement web.</a:t>
            </a:r>
            <a:endParaRPr lang="fr-CA" dirty="0"/>
          </a:p>
        </p:txBody>
      </p:sp>
      <p:pic>
        <p:nvPicPr>
          <p:cNvPr id="1030" name="Picture 6" descr="Ever wonder why your mouse cursor is slanted? | by ajiitha | Prototypr">
            <a:extLst>
              <a:ext uri="{FF2B5EF4-FFF2-40B4-BE49-F238E27FC236}">
                <a16:creationId xmlns:a16="http://schemas.microsoft.com/office/drawing/2014/main" id="{CDDF7D96-951F-8908-840B-0FEC25F94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9079" y="3991954"/>
            <a:ext cx="1732039" cy="2474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assionné de sports ! - Scan-R">
            <a:extLst>
              <a:ext uri="{FF2B5EF4-FFF2-40B4-BE49-F238E27FC236}">
                <a16:creationId xmlns:a16="http://schemas.microsoft.com/office/drawing/2014/main" id="{7CD6A5DE-C495-8EF2-14CD-508C49FCFD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Blur radius="1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397" t="63649" r="41493" b="20167"/>
          <a:stretch>
            <a:fillRect/>
          </a:stretch>
        </p:blipFill>
        <p:spPr bwMode="auto">
          <a:xfrm>
            <a:off x="11914512" y="0"/>
            <a:ext cx="6876306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assionné de sports ! - Scan-R">
            <a:extLst>
              <a:ext uri="{FF2B5EF4-FFF2-40B4-BE49-F238E27FC236}">
                <a16:creationId xmlns:a16="http://schemas.microsoft.com/office/drawing/2014/main" id="{B942DD74-569B-D987-3E28-A5EB191F56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Blur radius="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850" t="63194" r="42642" b="18953"/>
          <a:stretch>
            <a:fillRect/>
          </a:stretch>
        </p:blipFill>
        <p:spPr bwMode="auto">
          <a:xfrm>
            <a:off x="12404705" y="1"/>
            <a:ext cx="561405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Video game Generic Blue icon | Freepik">
            <a:extLst>
              <a:ext uri="{FF2B5EF4-FFF2-40B4-BE49-F238E27FC236}">
                <a16:creationId xmlns:a16="http://schemas.microsoft.com/office/drawing/2014/main" id="{6FB1C5AD-2559-64EF-279F-90A91BEE8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38726">
            <a:off x="4562380" y="1730583"/>
            <a:ext cx="2302899" cy="230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Art - Free art icons">
            <a:extLst>
              <a:ext uri="{FF2B5EF4-FFF2-40B4-BE49-F238E27FC236}">
                <a16:creationId xmlns:a16="http://schemas.microsoft.com/office/drawing/2014/main" id="{2807A65B-00FF-2DA3-1B18-DF6C9315D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400935">
            <a:off x="5788503" y="3216257"/>
            <a:ext cx="2566069" cy="2566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EE33B45D-DC13-002A-14F1-E3B8A1033819}"/>
              </a:ext>
            </a:extLst>
          </p:cNvPr>
          <p:cNvSpPr txBox="1"/>
          <p:nvPr/>
        </p:nvSpPr>
        <p:spPr>
          <a:xfrm>
            <a:off x="382562" y="5133053"/>
            <a:ext cx="4087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sz="4000" i="1" dirty="0">
                <a:latin typeface="Arial Rounded MT Bold" panose="020F0704030504030204" pitchFamily="34" charset="0"/>
              </a:rPr>
              <a:t>Toutes formes d’arts.</a:t>
            </a:r>
            <a:endParaRPr lang="fr-CA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34C0746-6D15-3F7D-EF3E-BD43929F969F}"/>
              </a:ext>
            </a:extLst>
          </p:cNvPr>
          <p:cNvSpPr txBox="1"/>
          <p:nvPr/>
        </p:nvSpPr>
        <p:spPr>
          <a:xfrm>
            <a:off x="-5430624" y="273762"/>
            <a:ext cx="334258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8000" b="1" i="1" dirty="0">
                <a:latin typeface="Arial Rounded MT Bold" panose="020F0704030504030204" pitchFamily="34" charset="0"/>
              </a:rPr>
              <a:t>(suite)</a:t>
            </a:r>
          </a:p>
        </p:txBody>
      </p:sp>
      <p:pic>
        <p:nvPicPr>
          <p:cNvPr id="14" name="Picture 4" descr="Coding - Free electronics icons">
            <a:extLst>
              <a:ext uri="{FF2B5EF4-FFF2-40B4-BE49-F238E27FC236}">
                <a16:creationId xmlns:a16="http://schemas.microsoft.com/office/drawing/2014/main" id="{46905485-76E3-40A1-AA33-1C0857C36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31913">
            <a:off x="14625388" y="2173485"/>
            <a:ext cx="2819876" cy="281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89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E2B3F-A5C4-2CE6-2B54-6792AEF9A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76B0A851-90D4-775B-085F-4BEBB76AB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CE915D-D098-A6E1-7C8D-AF224587A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0304" cy="4351338"/>
          </a:xfrm>
        </p:spPr>
        <p:txBody>
          <a:bodyPr/>
          <a:lstStyle/>
          <a:p>
            <a:r>
              <a:rPr lang="fr-CA" i="1" dirty="0">
                <a:latin typeface="Arial Rounded MT Bold" panose="020F0704030504030204" pitchFamily="34" charset="0"/>
              </a:rPr>
              <a:t>Zied:</a:t>
            </a:r>
          </a:p>
          <a:p>
            <a:pPr marL="0" indent="0">
              <a:buNone/>
            </a:pPr>
            <a:r>
              <a:rPr lang="fr-CA" i="1" dirty="0">
                <a:latin typeface="Arial Rounded MT Bold" panose="020F0704030504030204" pitchFamily="34" charset="0"/>
              </a:rPr>
              <a:t>	- Idées;</a:t>
            </a:r>
          </a:p>
          <a:p>
            <a:pPr marL="0" indent="0">
              <a:buNone/>
            </a:pPr>
            <a:r>
              <a:rPr lang="fr-CA" i="1" dirty="0">
                <a:latin typeface="Arial Rounded MT Bold" panose="020F0704030504030204" pitchFamily="34" charset="0"/>
              </a:rPr>
              <a:t>	- (est très inspiré);</a:t>
            </a:r>
          </a:p>
          <a:p>
            <a:pPr marL="0" indent="0">
              <a:buNone/>
            </a:pPr>
            <a:r>
              <a:rPr lang="fr-CA" i="1" dirty="0">
                <a:latin typeface="Arial Rounded MT Bold" panose="020F0704030504030204" pitchFamily="34" charset="0"/>
              </a:rPr>
              <a:t>	- Code.</a:t>
            </a:r>
          </a:p>
          <a:p>
            <a:r>
              <a:rPr lang="fr-CA" i="1" dirty="0">
                <a:latin typeface="Arial Rounded MT Bold" panose="020F0704030504030204" pitchFamily="34" charset="0"/>
              </a:rPr>
              <a:t>Abdel:</a:t>
            </a:r>
          </a:p>
          <a:p>
            <a:pPr marL="0" indent="0">
              <a:buNone/>
            </a:pPr>
            <a:r>
              <a:rPr lang="fr-CA" i="1" dirty="0">
                <a:latin typeface="Arial Rounded MT Bold" panose="020F0704030504030204" pitchFamily="34" charset="0"/>
              </a:rPr>
              <a:t>	- Design de l’application;</a:t>
            </a:r>
          </a:p>
          <a:p>
            <a:pPr marL="0" indent="0">
              <a:buNone/>
            </a:pPr>
            <a:r>
              <a:rPr lang="fr-CA" i="1" dirty="0">
                <a:latin typeface="Arial Rounded MT Bold" panose="020F0704030504030204" pitchFamily="34" charset="0"/>
              </a:rPr>
              <a:t>	- (pas du tout inspiré);</a:t>
            </a:r>
          </a:p>
          <a:p>
            <a:pPr marL="0" indent="0">
              <a:buNone/>
            </a:pPr>
            <a:r>
              <a:rPr lang="fr-CA" i="1" dirty="0">
                <a:latin typeface="Arial Rounded MT Bold" panose="020F0704030504030204" pitchFamily="34" charset="0"/>
              </a:rPr>
              <a:t> 	- Code également.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6B343FB-89B3-2C21-459D-DA1DE7AC0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4744" y="392557"/>
            <a:ext cx="4639056" cy="1325563"/>
          </a:xfrm>
        </p:spPr>
        <p:txBody>
          <a:bodyPr>
            <a:normAutofit fontScale="90000"/>
          </a:bodyPr>
          <a:lstStyle/>
          <a:p>
            <a:r>
              <a:rPr lang="fr-CA" sz="9600" i="1" kern="0" spc="-700" dirty="0">
                <a:latin typeface="Arial Rounded MT Bold" panose="020F0704030504030204" pitchFamily="34" charset="0"/>
              </a:rPr>
              <a:t>L’équipe :</a:t>
            </a:r>
            <a:endParaRPr lang="fr-CA" dirty="0"/>
          </a:p>
        </p:txBody>
      </p:sp>
      <p:pic>
        <p:nvPicPr>
          <p:cNvPr id="2050" name="Picture 2" descr="Bulb idea light - Free Icon PNG, SVG">
            <a:extLst>
              <a:ext uri="{FF2B5EF4-FFF2-40B4-BE49-F238E27FC236}">
                <a16:creationId xmlns:a16="http://schemas.microsoft.com/office/drawing/2014/main" id="{E9FEEDC2-D84A-580A-ECA5-EB49BD4A0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56522">
            <a:off x="5112269" y="908654"/>
            <a:ext cx="5497532" cy="5497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ding - Free electronics icons">
            <a:extLst>
              <a:ext uri="{FF2B5EF4-FFF2-40B4-BE49-F238E27FC236}">
                <a16:creationId xmlns:a16="http://schemas.microsoft.com/office/drawing/2014/main" id="{0D936EAB-11EE-0170-B165-53D16EC93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77663">
            <a:off x="8441407" y="2173485"/>
            <a:ext cx="2819876" cy="281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A7A87E50-F30E-74F9-BB33-A3CEE326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90010">
            <a:off x="8551680" y="4376830"/>
            <a:ext cx="1730724" cy="1730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E5B5C52-58FE-F393-6A15-C4DA5DA77390}"/>
              </a:ext>
            </a:extLst>
          </p:cNvPr>
          <p:cNvSpPr txBox="1"/>
          <p:nvPr/>
        </p:nvSpPr>
        <p:spPr>
          <a:xfrm>
            <a:off x="838200" y="273762"/>
            <a:ext cx="334258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8000" b="1" i="1" dirty="0">
                <a:latin typeface="Arial Rounded MT Bold" panose="020F0704030504030204" pitchFamily="34" charset="0"/>
              </a:rPr>
              <a:t>(suite)</a:t>
            </a:r>
          </a:p>
        </p:txBody>
      </p:sp>
    </p:spTree>
    <p:extLst>
      <p:ext uri="{BB962C8B-B14F-4D97-AF65-F5344CB8AC3E}">
        <p14:creationId xmlns:p14="http://schemas.microsoft.com/office/powerpoint/2010/main" val="3656693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43B7A-DF86-85FC-203F-DB2918AAA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300DD3A5-6DAD-6F4A-0A47-E956E142F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A4F703-E1F7-B8F3-D84D-3FD2F4BD6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0976"/>
            <a:ext cx="6806938" cy="2831216"/>
          </a:xfrm>
        </p:spPr>
        <p:txBody>
          <a:bodyPr/>
          <a:lstStyle/>
          <a:p>
            <a:r>
              <a:rPr lang="fr-CA" i="1" dirty="0">
                <a:latin typeface="Arial Rounded MT Bold" panose="020F0704030504030204" pitchFamily="34" charset="0"/>
              </a:rPr>
              <a:t>Pas de motivation? Trop fade? Manque de </a:t>
            </a:r>
            <a:r>
              <a:rPr lang="fr-CA" i="1" dirty="0" err="1">
                <a:latin typeface="Arial Rounded MT Bold" panose="020F0704030504030204" pitchFamily="34" charset="0"/>
              </a:rPr>
              <a:t>fonctionalités</a:t>
            </a:r>
            <a:r>
              <a:rPr lang="fr-CA" i="1" dirty="0">
                <a:latin typeface="Arial Rounded MT Bold" panose="020F0704030504030204" pitchFamily="34" charset="0"/>
              </a:rPr>
              <a:t>? Design déprimant?</a:t>
            </a:r>
          </a:p>
          <a:p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Objectif: une application qui rend toutes ces excuses impossibles.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384E0BC0-94CA-7580-02A6-B68FA481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81292" cy="1325563"/>
          </a:xfrm>
        </p:spPr>
        <p:txBody>
          <a:bodyPr>
            <a:normAutofit fontScale="90000"/>
          </a:bodyPr>
          <a:lstStyle/>
          <a:p>
            <a:r>
              <a:rPr lang="fr-CA" sz="9600" i="1" kern="0" spc="-700" dirty="0">
                <a:latin typeface="Arial Rounded MT Bold" panose="020F0704030504030204" pitchFamily="34" charset="0"/>
              </a:rPr>
              <a:t>L’idée :</a:t>
            </a:r>
            <a:endParaRPr lang="fr-CA" dirty="0"/>
          </a:p>
        </p:txBody>
      </p:sp>
      <p:pic>
        <p:nvPicPr>
          <p:cNvPr id="6" name="Picture 4" descr="Coding - Free electronics icons">
            <a:extLst>
              <a:ext uri="{FF2B5EF4-FFF2-40B4-BE49-F238E27FC236}">
                <a16:creationId xmlns:a16="http://schemas.microsoft.com/office/drawing/2014/main" id="{4B734100-9EE3-9095-FC07-B20FFE0A3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77663">
            <a:off x="14716075" y="2173485"/>
            <a:ext cx="2819876" cy="281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Bulb idea light - Free Icon PNG, SVG">
            <a:extLst>
              <a:ext uri="{FF2B5EF4-FFF2-40B4-BE49-F238E27FC236}">
                <a16:creationId xmlns:a16="http://schemas.microsoft.com/office/drawing/2014/main" id="{21B35A00-ED1E-989A-9DC0-671AD304F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35150">
            <a:off x="5995292" y="35347"/>
            <a:ext cx="7096151" cy="709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35B17A-E191-44AB-434F-2DB31B572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08317">
            <a:off x="9919498" y="4449338"/>
            <a:ext cx="1184815" cy="118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Graph - Free business icons">
            <a:extLst>
              <a:ext uri="{FF2B5EF4-FFF2-40B4-BE49-F238E27FC236}">
                <a16:creationId xmlns:a16="http://schemas.microsoft.com/office/drawing/2014/main" id="{6C4BB2C6-B88D-7B9E-FCB3-597D54DCF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3138">
            <a:off x="7534240" y="-3489909"/>
            <a:ext cx="1593900" cy="159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Check mark - Free icons">
            <a:extLst>
              <a:ext uri="{FF2B5EF4-FFF2-40B4-BE49-F238E27FC236}">
                <a16:creationId xmlns:a16="http://schemas.microsoft.com/office/drawing/2014/main" id="{98D38B36-7B28-2BC6-1E31-84F1D27DB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91269">
            <a:off x="5612955" y="-2735032"/>
            <a:ext cx="2238449" cy="2238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0876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AAF65-5BB5-E8E2-3C65-433AD9B1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FF01CD2A-A0E2-7CAE-751E-652FB5893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5DAD70-CF3A-B3A3-A064-27601DC11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i="1" dirty="0">
                <a:latin typeface="Arial Rounded MT Bold" panose="020F0704030504030204" pitchFamily="34" charset="0"/>
              </a:rPr>
              <a:t>Suivre ses entraînements de manière simple et efficace.</a:t>
            </a:r>
          </a:p>
          <a:p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Visualiser ses progrès (force, endurance, régularité)</a:t>
            </a:r>
          </a:p>
          <a:p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Centraliser séances, statistiques et historique au même endroit</a:t>
            </a:r>
          </a:p>
          <a:p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Mieux comprendre ses performances grâce aux calculs physiques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28D0FAC4-8E62-C0F4-4EBC-77F1A801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fr-CA" sz="9600" i="1" kern="0" spc="-700" dirty="0">
                <a:latin typeface="Arial Rounded MT Bold" panose="020F0704030504030204" pitchFamily="34" charset="0"/>
              </a:rPr>
              <a:t>L’utilité :           </a:t>
            </a:r>
            <a:endParaRPr lang="fr-CA" dirty="0"/>
          </a:p>
        </p:txBody>
      </p:sp>
      <p:pic>
        <p:nvPicPr>
          <p:cNvPr id="7" name="Picture 2" descr="Bulb idea light - Free Icon PNG, SVG">
            <a:extLst>
              <a:ext uri="{FF2B5EF4-FFF2-40B4-BE49-F238E27FC236}">
                <a16:creationId xmlns:a16="http://schemas.microsoft.com/office/drawing/2014/main" id="{64B8A37D-0DA9-FB66-2C50-6F7CF7148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2278">
            <a:off x="11834821" y="35347"/>
            <a:ext cx="7096151" cy="709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074FA32E-0AFA-ABC9-25F9-E4A8DEB8C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445">
            <a:off x="15759027" y="4449338"/>
            <a:ext cx="1184815" cy="118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Graph - Free business icons">
            <a:extLst>
              <a:ext uri="{FF2B5EF4-FFF2-40B4-BE49-F238E27FC236}">
                <a16:creationId xmlns:a16="http://schemas.microsoft.com/office/drawing/2014/main" id="{10532CE0-7588-7335-4725-E8D7D60AB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3138">
            <a:off x="7534240" y="72441"/>
            <a:ext cx="1593900" cy="159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Diamant - Icônes mode gratuites">
            <a:extLst>
              <a:ext uri="{FF2B5EF4-FFF2-40B4-BE49-F238E27FC236}">
                <a16:creationId xmlns:a16="http://schemas.microsoft.com/office/drawing/2014/main" id="{28C1FE27-864A-DCA9-82B7-2FB44FA2C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72728">
            <a:off x="13518675" y="2376195"/>
            <a:ext cx="1619045" cy="1619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Maps - Free maps and location icons">
            <a:extLst>
              <a:ext uri="{FF2B5EF4-FFF2-40B4-BE49-F238E27FC236}">
                <a16:creationId xmlns:a16="http://schemas.microsoft.com/office/drawing/2014/main" id="{53FE2484-532C-98A4-5F28-BC8EF4DDD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4676">
            <a:off x="19919432" y="2486131"/>
            <a:ext cx="1551143" cy="1551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Check mark - Free icons">
            <a:extLst>
              <a:ext uri="{FF2B5EF4-FFF2-40B4-BE49-F238E27FC236}">
                <a16:creationId xmlns:a16="http://schemas.microsoft.com/office/drawing/2014/main" id="{B9A37108-A62E-C8E2-F8A6-7167EF7B0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91269">
            <a:off x="5904099" y="-145204"/>
            <a:ext cx="2238449" cy="2238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3262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AAF65-5BB5-E8E2-3C65-433AD9B1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FF01CD2A-A0E2-7CAE-751E-652FB5893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5DAD70-CF3A-B3A3-A064-27601DC11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6"/>
          </a:xfrm>
        </p:spPr>
        <p:txBody>
          <a:bodyPr/>
          <a:lstStyle/>
          <a:p>
            <a:r>
              <a:rPr lang="fr-CA" i="1" dirty="0">
                <a:latin typeface="Arial Rounded MT Bold" panose="020F0704030504030204" pitchFamily="34" charset="0"/>
              </a:rPr>
              <a:t>Système de rang (Diamant, Champion) </a:t>
            </a:r>
            <a:r>
              <a:rPr lang="fr-CA" i="1" dirty="0">
                <a:latin typeface="Arial Rounded MT Bold" panose="020F0704030504030204" pitchFamily="34" charset="0"/>
                <a:sym typeface="Wingdings" panose="05000000000000000000" pitchFamily="2" charset="2"/>
              </a:rPr>
              <a:t> efforts</a:t>
            </a:r>
            <a:endParaRPr lang="fr-CA" i="1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Design clean, motivant, simple</a:t>
            </a:r>
          </a:p>
          <a:p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Google </a:t>
            </a:r>
            <a:r>
              <a:rPr lang="fr-CA" i="1" dirty="0" err="1">
                <a:latin typeface="Arial Rounded MT Bold" panose="020F0704030504030204" pitchFamily="34" charset="0"/>
              </a:rPr>
              <a:t>Maps</a:t>
            </a:r>
            <a:r>
              <a:rPr lang="fr-CA" i="1" dirty="0">
                <a:latin typeface="Arial Rounded MT Bold" panose="020F0704030504030204" pitchFamily="34" charset="0"/>
              </a:rPr>
              <a:t> pour le cardio extérieur</a:t>
            </a:r>
          </a:p>
          <a:p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Assistant </a:t>
            </a:r>
            <a:r>
              <a:rPr lang="fr-CA" i="1" dirty="0" err="1">
                <a:latin typeface="Arial Rounded MT Bold" panose="020F0704030504030204" pitchFamily="34" charset="0"/>
              </a:rPr>
              <a:t>i.a</a:t>
            </a:r>
            <a:r>
              <a:rPr lang="fr-CA" i="1" dirty="0">
                <a:latin typeface="Arial Rounded MT Bold" panose="020F0704030504030204" pitchFamily="34" charset="0"/>
              </a:rPr>
              <a:t>. pour toute question</a:t>
            </a:r>
          </a:p>
          <a:p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Assistance accrue pendant l’entraînement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28D0FAC4-8E62-C0F4-4EBC-77F1A801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fr-CA" sz="9600" i="1" kern="0" spc="-700" dirty="0">
                <a:latin typeface="Arial Rounded MT Bold" panose="020F0704030504030204" pitchFamily="34" charset="0"/>
              </a:rPr>
              <a:t>L’innovation :</a:t>
            </a:r>
            <a:endParaRPr lang="fr-CA" dirty="0"/>
          </a:p>
        </p:txBody>
      </p:sp>
      <p:pic>
        <p:nvPicPr>
          <p:cNvPr id="10" name="Picture 2" descr="Bulb idea light - Free Icon PNG, SVG">
            <a:extLst>
              <a:ext uri="{FF2B5EF4-FFF2-40B4-BE49-F238E27FC236}">
                <a16:creationId xmlns:a16="http://schemas.microsoft.com/office/drawing/2014/main" id="{BDEEA3E8-940F-73CD-74AB-14985C611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54750">
            <a:off x="6613641" y="1200481"/>
            <a:ext cx="6414225" cy="641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iamant - Icônes mode gratuites">
            <a:extLst>
              <a:ext uri="{FF2B5EF4-FFF2-40B4-BE49-F238E27FC236}">
                <a16:creationId xmlns:a16="http://schemas.microsoft.com/office/drawing/2014/main" id="{F9A3EEB3-1BE8-7725-7884-E0BBDA7D6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72728">
            <a:off x="7633248" y="2776702"/>
            <a:ext cx="1619045" cy="1619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aps - Free maps and location icons">
            <a:extLst>
              <a:ext uri="{FF2B5EF4-FFF2-40B4-BE49-F238E27FC236}">
                <a16:creationId xmlns:a16="http://schemas.microsoft.com/office/drawing/2014/main" id="{EC01EC5B-73E3-AE77-4AB9-46FE3D4A0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4676">
            <a:off x="10465319" y="2690747"/>
            <a:ext cx="1551143" cy="1551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770+ Super Dog Photos, taleaux et images libre de droits - iStock |  Superdog, Super animaux">
            <a:extLst>
              <a:ext uri="{FF2B5EF4-FFF2-40B4-BE49-F238E27FC236}">
                <a16:creationId xmlns:a16="http://schemas.microsoft.com/office/drawing/2014/main" id="{DED04118-68CC-B250-D0A0-13A1A9871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133" y="-4229032"/>
            <a:ext cx="2709760" cy="1806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Graph - Free business icons">
            <a:extLst>
              <a:ext uri="{FF2B5EF4-FFF2-40B4-BE49-F238E27FC236}">
                <a16:creationId xmlns:a16="http://schemas.microsoft.com/office/drawing/2014/main" id="{C7B71021-C0D9-FA76-8676-4FD525BFF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3138">
            <a:off x="7534240" y="-4175709"/>
            <a:ext cx="1593900" cy="159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9EC2DF3B-E89B-DFC1-B3F6-AF66C79EF7B6}"/>
              </a:ext>
            </a:extLst>
          </p:cNvPr>
          <p:cNvSpPr txBox="1">
            <a:spLocks/>
          </p:cNvSpPr>
          <p:nvPr/>
        </p:nvSpPr>
        <p:spPr>
          <a:xfrm>
            <a:off x="990600" y="-24923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A" sz="9600" i="1" kern="0" spc="-700">
                <a:latin typeface="Arial Rounded MT Bold" panose="020F0704030504030204" pitchFamily="34" charset="0"/>
              </a:rPr>
              <a:t>L’utilité :           </a:t>
            </a:r>
            <a:endParaRPr lang="fr-CA" dirty="0"/>
          </a:p>
        </p:txBody>
      </p:sp>
      <p:pic>
        <p:nvPicPr>
          <p:cNvPr id="11" name="Picture 6" descr="Checklist - Free files and folders icons">
            <a:extLst>
              <a:ext uri="{FF2B5EF4-FFF2-40B4-BE49-F238E27FC236}">
                <a16:creationId xmlns:a16="http://schemas.microsoft.com/office/drawing/2014/main" id="{DC5967A0-4B1B-6C0F-B142-FD3C4CFE2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42670">
            <a:off x="8462563" y="-5132387"/>
            <a:ext cx="3469453" cy="346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Check mark - Free icons">
            <a:extLst>
              <a:ext uri="{FF2B5EF4-FFF2-40B4-BE49-F238E27FC236}">
                <a16:creationId xmlns:a16="http://schemas.microsoft.com/office/drawing/2014/main" id="{82CCC49F-E841-4063-E1B5-9447C96C2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91269">
            <a:off x="5904099" y="-5536354"/>
            <a:ext cx="2238449" cy="2238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56045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AAF65-5BB5-E8E2-3C65-433AD9B1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FF01CD2A-A0E2-7CAE-751E-652FB5893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832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5DAD70-CF3A-B3A3-A064-27601DC11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4607"/>
            <a:ext cx="10515600" cy="4117106"/>
          </a:xfrm>
        </p:spPr>
        <p:txBody>
          <a:bodyPr>
            <a:normAutofit/>
          </a:bodyPr>
          <a:lstStyle/>
          <a:p>
            <a:r>
              <a:rPr lang="fr-CA" sz="2400" i="1" dirty="0">
                <a:latin typeface="Arial Rounded MT Bold" panose="020F0704030504030204" pitchFamily="34" charset="0"/>
              </a:rPr>
              <a:t>Manque de motivation pour s’entraîner seul</a:t>
            </a:r>
          </a:p>
          <a:p>
            <a:endParaRPr lang="fr-CA" sz="2400" i="1" dirty="0">
              <a:latin typeface="Arial Rounded MT Bold" panose="020F0704030504030204" pitchFamily="34" charset="0"/>
            </a:endParaRPr>
          </a:p>
          <a:p>
            <a:r>
              <a:rPr lang="fr-CA" sz="2400" i="1" dirty="0">
                <a:latin typeface="Arial Rounded MT Bold" panose="020F0704030504030204" pitchFamily="34" charset="0"/>
              </a:rPr>
              <a:t>Suivre ses progrès de manière visuelle (Graphiques)</a:t>
            </a:r>
          </a:p>
          <a:p>
            <a:endParaRPr lang="fr-CA" sz="2400" i="1" dirty="0">
              <a:latin typeface="Arial Rounded MT Bold" panose="020F0704030504030204" pitchFamily="34" charset="0"/>
            </a:endParaRPr>
          </a:p>
          <a:p>
            <a:r>
              <a:rPr lang="fr-CA" sz="2400" i="1" dirty="0">
                <a:latin typeface="Arial Rounded MT Bold" panose="020F0704030504030204" pitchFamily="34" charset="0"/>
              </a:rPr>
              <a:t>Structurer ses séances sans coach (ce sont des rats, trop </a:t>
            </a:r>
            <a:r>
              <a:rPr lang="fr-CA" sz="2400" i="1" dirty="0" err="1">
                <a:latin typeface="Arial Rounded MT Bold" panose="020F0704030504030204" pitchFamily="34" charset="0"/>
              </a:rPr>
              <a:t>che</a:t>
            </a:r>
            <a:r>
              <a:rPr lang="en-CA" sz="2400" i="1" dirty="0">
                <a:latin typeface="Arial Rounded MT Bold" panose="020F0704030504030204" pitchFamily="34" charset="0"/>
              </a:rPr>
              <a:t>r</a:t>
            </a:r>
            <a:r>
              <a:rPr lang="fr-CA" sz="2400" i="1" dirty="0">
                <a:latin typeface="Arial Rounded MT Bold" panose="020F0704030504030204" pitchFamily="34" charset="0"/>
              </a:rPr>
              <a:t>)</a:t>
            </a:r>
          </a:p>
          <a:p>
            <a:endParaRPr lang="fr-CA" sz="2400" i="1" dirty="0">
              <a:latin typeface="Arial Rounded MT Bold" panose="020F0704030504030204" pitchFamily="34" charset="0"/>
            </a:endParaRPr>
          </a:p>
          <a:p>
            <a:r>
              <a:rPr lang="fr-CA" sz="2400" i="1" dirty="0">
                <a:latin typeface="Arial Rounded MT Bold" panose="020F0704030504030204" pitchFamily="34" charset="0"/>
              </a:rPr>
              <a:t>Analyser ses performances (historique)</a:t>
            </a:r>
          </a:p>
          <a:p>
            <a:endParaRPr lang="fr-CA" sz="2400" i="1" dirty="0">
              <a:latin typeface="Arial Rounded MT Bold" panose="020F0704030504030204" pitchFamily="34" charset="0"/>
            </a:endParaRPr>
          </a:p>
          <a:p>
            <a:r>
              <a:rPr lang="fr-CA" sz="2400" i="1" dirty="0">
                <a:latin typeface="Arial Rounded MT Bold" panose="020F0704030504030204" pitchFamily="34" charset="0"/>
              </a:rPr>
              <a:t>Entraînements avec suivi de distance et de vitesse (google </a:t>
            </a:r>
            <a:r>
              <a:rPr lang="fr-CA" sz="2400" i="1" dirty="0" err="1">
                <a:latin typeface="Arial Rounded MT Bold" panose="020F0704030504030204" pitchFamily="34" charset="0"/>
              </a:rPr>
              <a:t>map</a:t>
            </a:r>
            <a:r>
              <a:rPr lang="fr-CA" sz="2400" i="1" dirty="0">
                <a:latin typeface="Arial Rounded MT Bold" panose="020F0704030504030204" pitchFamily="34" charset="0"/>
              </a:rPr>
              <a:t>)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28D0FAC4-8E62-C0F4-4EBC-77F1A801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829"/>
            <a:ext cx="10515600" cy="1634461"/>
          </a:xfrm>
        </p:spPr>
        <p:txBody>
          <a:bodyPr>
            <a:normAutofit/>
          </a:bodyPr>
          <a:lstStyle/>
          <a:p>
            <a:r>
              <a:rPr lang="fr-CA" sz="8600" i="1" kern="0" spc="-700" dirty="0">
                <a:latin typeface="Arial Rounded MT Bold" panose="020F0704030504030204" pitchFamily="34" charset="0"/>
              </a:rPr>
              <a:t>Cas d’utilisation :</a:t>
            </a:r>
            <a:endParaRPr lang="fr-CA" sz="8600" dirty="0"/>
          </a:p>
        </p:txBody>
      </p:sp>
      <p:pic>
        <p:nvPicPr>
          <p:cNvPr id="2" name="Picture 2" descr="The Word Merci In Yellow And Blue PNG &amp; SVG Design For T-Shirts">
            <a:extLst>
              <a:ext uri="{FF2B5EF4-FFF2-40B4-BE49-F238E27FC236}">
                <a16:creationId xmlns:a16="http://schemas.microsoft.com/office/drawing/2014/main" id="{3C1256F6-6622-37EC-B0CD-F89F85B6B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52575">
            <a:off x="2991231" y="7263384"/>
            <a:ext cx="6209538" cy="620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Diamant - Icônes mode gratuites">
            <a:extLst>
              <a:ext uri="{FF2B5EF4-FFF2-40B4-BE49-F238E27FC236}">
                <a16:creationId xmlns:a16="http://schemas.microsoft.com/office/drawing/2014/main" id="{B2B9153B-0843-D81E-1FCC-4C6B034A2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72728">
            <a:off x="16252350" y="2376195"/>
            <a:ext cx="1619045" cy="1619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aps - Free maps and location icons">
            <a:extLst>
              <a:ext uri="{FF2B5EF4-FFF2-40B4-BE49-F238E27FC236}">
                <a16:creationId xmlns:a16="http://schemas.microsoft.com/office/drawing/2014/main" id="{0E86E797-551A-757F-3490-2B55C08E9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23485">
            <a:off x="10172997" y="3852797"/>
            <a:ext cx="1975790" cy="197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unning shoe Generic Flat icon | Freepik">
            <a:extLst>
              <a:ext uri="{FF2B5EF4-FFF2-40B4-BE49-F238E27FC236}">
                <a16:creationId xmlns:a16="http://schemas.microsoft.com/office/drawing/2014/main" id="{8E3BD0B9-C23C-2EE7-6F92-920545E58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38918">
            <a:off x="12992311" y="4319646"/>
            <a:ext cx="3170218" cy="3170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Multiple users silhouette - Free people icons">
            <a:extLst>
              <a:ext uri="{FF2B5EF4-FFF2-40B4-BE49-F238E27FC236}">
                <a16:creationId xmlns:a16="http://schemas.microsoft.com/office/drawing/2014/main" id="{7C0B474B-F030-9B3A-4A3A-086D22CEF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29101" y="2266400"/>
            <a:ext cx="2325199" cy="2325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Bulb idea light - Free Icon PNG, SVG">
            <a:extLst>
              <a:ext uri="{FF2B5EF4-FFF2-40B4-BE49-F238E27FC236}">
                <a16:creationId xmlns:a16="http://schemas.microsoft.com/office/drawing/2014/main" id="{9FC28842-25B7-D8ED-722C-FA79DCA5C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54750">
            <a:off x="13666014" y="303179"/>
            <a:ext cx="5567660" cy="709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Checklist - Free files and folders icons">
            <a:extLst>
              <a:ext uri="{FF2B5EF4-FFF2-40B4-BE49-F238E27FC236}">
                <a16:creationId xmlns:a16="http://schemas.microsoft.com/office/drawing/2014/main" id="{FB688470-0F6E-06BB-23B1-20D84B54E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42670">
            <a:off x="8453038" y="182563"/>
            <a:ext cx="3469453" cy="346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Target - Free marketing icons">
            <a:extLst>
              <a:ext uri="{FF2B5EF4-FFF2-40B4-BE49-F238E27FC236}">
                <a16:creationId xmlns:a16="http://schemas.microsoft.com/office/drawing/2014/main" id="{7675770B-8DAA-68AF-921F-7F32CC1D3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43792">
            <a:off x="8956969" y="-4763645"/>
            <a:ext cx="2221731" cy="222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50492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3C626-28F8-3DE8-7F7D-211AE85BB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5D04715C-1DFE-C61D-9D49-F41ECABE8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434986-E7B6-62DE-3E50-E3152CDFC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8065"/>
            <a:ext cx="10515600" cy="37188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i="1" dirty="0">
                <a:latin typeface="Arial Rounded MT Bold" panose="020F0704030504030204" pitchFamily="34" charset="0"/>
              </a:rPr>
              <a:t>Accessible pour tous, mais plus principalement:</a:t>
            </a:r>
          </a:p>
          <a:p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Étudiants et jeunes adultes</a:t>
            </a:r>
          </a:p>
          <a:p>
            <a:pPr marL="0" indent="0">
              <a:buNone/>
            </a:pPr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 Débutants ou sportifs occasionnels</a:t>
            </a:r>
          </a:p>
          <a:p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 Personnes cherchant motivation et structure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C3B0020-AD56-9EA5-E740-F3C0FC4FB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829"/>
            <a:ext cx="10515600" cy="2082381"/>
          </a:xfrm>
        </p:spPr>
        <p:txBody>
          <a:bodyPr>
            <a:normAutofit/>
          </a:bodyPr>
          <a:lstStyle/>
          <a:p>
            <a:r>
              <a:rPr lang="fr-CA" sz="8600" i="1" kern="0" spc="-700" dirty="0">
                <a:latin typeface="Arial Rounded MT Bold" panose="020F0704030504030204" pitchFamily="34" charset="0"/>
              </a:rPr>
              <a:t>Public cible:</a:t>
            </a:r>
            <a:endParaRPr lang="fr-CA" sz="8600" dirty="0"/>
          </a:p>
        </p:txBody>
      </p:sp>
      <p:pic>
        <p:nvPicPr>
          <p:cNvPr id="4098" name="Picture 2" descr="Running shoe Generic Flat icon | Freepik">
            <a:extLst>
              <a:ext uri="{FF2B5EF4-FFF2-40B4-BE49-F238E27FC236}">
                <a16:creationId xmlns:a16="http://schemas.microsoft.com/office/drawing/2014/main" id="{FB2EA978-5FE4-AF0F-7853-CD4EFBA74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40478">
            <a:off x="7500900" y="2728970"/>
            <a:ext cx="3170218" cy="3170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What About GitHub Desktop?. “GitHub Desktop” is an application that… | by  Adam Reed | Medium">
            <a:extLst>
              <a:ext uri="{FF2B5EF4-FFF2-40B4-BE49-F238E27FC236}">
                <a16:creationId xmlns:a16="http://schemas.microsoft.com/office/drawing/2014/main" id="{4B2A4F80-FF98-0703-2CD8-E7B22368D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399" y="6461443"/>
            <a:ext cx="4949201" cy="537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Why WebStorm is the most productive IDE for JavaScript development | by  Aaron Janes | Medium">
            <a:extLst>
              <a:ext uri="{FF2B5EF4-FFF2-40B4-BE49-F238E27FC236}">
                <a16:creationId xmlns:a16="http://schemas.microsoft.com/office/drawing/2014/main" id="{594EC3AA-74B9-7274-8ED2-A0EA8F7A8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59029">
            <a:off x="608045" y="10088044"/>
            <a:ext cx="3829050" cy="382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act Native - Wikipedia">
            <a:extLst>
              <a:ext uri="{FF2B5EF4-FFF2-40B4-BE49-F238E27FC236}">
                <a16:creationId xmlns:a16="http://schemas.microsoft.com/office/drawing/2014/main" id="{588C1FE4-5327-ED6F-482D-7DD174D4D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59960">
            <a:off x="7399168" y="12500006"/>
            <a:ext cx="4497322" cy="401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Target - Free marketing icons">
            <a:extLst>
              <a:ext uri="{FF2B5EF4-FFF2-40B4-BE49-F238E27FC236}">
                <a16:creationId xmlns:a16="http://schemas.microsoft.com/office/drawing/2014/main" id="{3523B272-3AB3-B125-1847-A922B39EA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43792">
            <a:off x="8956969" y="341755"/>
            <a:ext cx="2221731" cy="222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Multiple users silhouette - Free people icons">
            <a:extLst>
              <a:ext uri="{FF2B5EF4-FFF2-40B4-BE49-F238E27FC236}">
                <a16:creationId xmlns:a16="http://schemas.microsoft.com/office/drawing/2014/main" id="{482A3748-2212-4970-15FE-DFC74D08E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7701" y="2266400"/>
            <a:ext cx="2325199" cy="2325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Checklist - Free files and folders icons">
            <a:extLst>
              <a:ext uri="{FF2B5EF4-FFF2-40B4-BE49-F238E27FC236}">
                <a16:creationId xmlns:a16="http://schemas.microsoft.com/office/drawing/2014/main" id="{35BFD001-2282-F9F1-6CD9-1AB075640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42670">
            <a:off x="14320438" y="182563"/>
            <a:ext cx="3469453" cy="346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Maps - Free maps and location icons">
            <a:extLst>
              <a:ext uri="{FF2B5EF4-FFF2-40B4-BE49-F238E27FC236}">
                <a16:creationId xmlns:a16="http://schemas.microsoft.com/office/drawing/2014/main" id="{B9707135-CA93-3079-A6C4-C545AFF59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23485">
            <a:off x="13944799" y="3852797"/>
            <a:ext cx="1975790" cy="197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12068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9E0283EE-EECD-05EE-9999-085D37391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E7C8CC34-1F12-541C-5E23-1AD8CAD2F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462"/>
            <a:ext cx="6619875" cy="2157413"/>
          </a:xfrm>
        </p:spPr>
        <p:txBody>
          <a:bodyPr>
            <a:normAutofit fontScale="90000"/>
          </a:bodyPr>
          <a:lstStyle/>
          <a:p>
            <a:r>
              <a:rPr lang="fr-CA" sz="8600" i="1" kern="0" spc="-700" dirty="0">
                <a:latin typeface="Arial Rounded MT Bold" panose="020F0704030504030204" pitchFamily="34" charset="0"/>
              </a:rPr>
              <a:t>Environnement</a:t>
            </a:r>
            <a:br>
              <a:rPr lang="fr-CA" sz="8600" i="1" kern="0" spc="-700" dirty="0">
                <a:latin typeface="Arial Rounded MT Bold" panose="020F0704030504030204" pitchFamily="34" charset="0"/>
              </a:rPr>
            </a:br>
            <a:r>
              <a:rPr lang="fr-CA" sz="8600" i="1" kern="0" spc="-700" dirty="0">
                <a:latin typeface="Arial Rounded MT Bold" panose="020F0704030504030204" pitchFamily="34" charset="0"/>
              </a:rPr>
              <a:t>technique :</a:t>
            </a:r>
            <a:endParaRPr lang="fr-CA" sz="86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C6EB954-0713-155B-5AA8-56D30D3914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13858">
            <a:off x="14832301" y="2734963"/>
            <a:ext cx="2895163" cy="2895163"/>
          </a:xfrm>
          <a:prstGeom prst="rect">
            <a:avLst/>
          </a:prstGeom>
        </p:spPr>
      </p:pic>
      <p:pic>
        <p:nvPicPr>
          <p:cNvPr id="8" name="Picture 2" descr="Running shoe Generic Flat icon | Freepik">
            <a:extLst>
              <a:ext uri="{FF2B5EF4-FFF2-40B4-BE49-F238E27FC236}">
                <a16:creationId xmlns:a16="http://schemas.microsoft.com/office/drawing/2014/main" id="{ECFA7739-17F6-31D7-6F06-EF468869D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22800">
            <a:off x="13177800" y="3700520"/>
            <a:ext cx="3170218" cy="3170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act Native - Wikipedia">
            <a:extLst>
              <a:ext uri="{FF2B5EF4-FFF2-40B4-BE49-F238E27FC236}">
                <a16:creationId xmlns:a16="http://schemas.microsoft.com/office/drawing/2014/main" id="{86A505C7-B8A4-2178-FCF6-0CDF48066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59960">
            <a:off x="7399168" y="2508281"/>
            <a:ext cx="4497322" cy="401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Why WebStorm is the most productive IDE for JavaScript development | by  Aaron Janes | Medium">
            <a:extLst>
              <a:ext uri="{FF2B5EF4-FFF2-40B4-BE49-F238E27FC236}">
                <a16:creationId xmlns:a16="http://schemas.microsoft.com/office/drawing/2014/main" id="{9F5B3B09-11F7-E39F-2A69-0547ABAE6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59029">
            <a:off x="608045" y="2820469"/>
            <a:ext cx="3829050" cy="382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What About GitHub Desktop?. “GitHub Desktop” is an application that… | by  Adam Reed | Medium">
            <a:extLst>
              <a:ext uri="{FF2B5EF4-FFF2-40B4-BE49-F238E27FC236}">
                <a16:creationId xmlns:a16="http://schemas.microsoft.com/office/drawing/2014/main" id="{52999E25-0A59-3DED-9A44-384674A0D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399" y="1117918"/>
            <a:ext cx="4949201" cy="537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463B7922-254E-9930-E5F4-426F1EEE2918}"/>
              </a:ext>
            </a:extLst>
          </p:cNvPr>
          <p:cNvSpPr txBox="1">
            <a:spLocks/>
          </p:cNvSpPr>
          <p:nvPr/>
        </p:nvSpPr>
        <p:spPr>
          <a:xfrm>
            <a:off x="7663779" y="1204132"/>
            <a:ext cx="3968099" cy="11136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A" sz="4800" i="1" kern="0" spc="-700" dirty="0">
                <a:latin typeface="Arial Rounded MT Bold" panose="020F0704030504030204" pitchFamily="34" charset="0"/>
              </a:rPr>
              <a:t>(pour le moment)</a:t>
            </a:r>
            <a:endParaRPr lang="fr-CA" sz="4800" dirty="0"/>
          </a:p>
        </p:txBody>
      </p:sp>
      <p:pic>
        <p:nvPicPr>
          <p:cNvPr id="10" name="Picture 2" descr="The Word Merci In Yellow And Blue PNG &amp; SVG Design For T-Shirts">
            <a:extLst>
              <a:ext uri="{FF2B5EF4-FFF2-40B4-BE49-F238E27FC236}">
                <a16:creationId xmlns:a16="http://schemas.microsoft.com/office/drawing/2014/main" id="{247F388A-C82F-687C-033B-A0635643A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8635">
            <a:off x="2991231" y="-7114794"/>
            <a:ext cx="6209538" cy="620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Target - Free marketing icons">
            <a:extLst>
              <a:ext uri="{FF2B5EF4-FFF2-40B4-BE49-F238E27FC236}">
                <a16:creationId xmlns:a16="http://schemas.microsoft.com/office/drawing/2014/main" id="{2CBB4BB5-6094-2C31-BAFC-FDCCA1BE1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43792">
            <a:off x="14738644" y="284605"/>
            <a:ext cx="2221731" cy="222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Multiple users silhouette - Free people icons">
            <a:extLst>
              <a:ext uri="{FF2B5EF4-FFF2-40B4-BE49-F238E27FC236}">
                <a16:creationId xmlns:a16="http://schemas.microsoft.com/office/drawing/2014/main" id="{D5571790-211E-739A-2115-B0221F3CA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0805">
            <a:off x="15638951" y="2266400"/>
            <a:ext cx="2325199" cy="2325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05714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AAF65-5BB5-E8E2-3C65-433AD9B1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FF01CD2A-A0E2-7CAE-751E-652FB5893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The Word Merci In Yellow And Blue PNG &amp; SVG Design For T-Shirts">
            <a:extLst>
              <a:ext uri="{FF2B5EF4-FFF2-40B4-BE49-F238E27FC236}">
                <a16:creationId xmlns:a16="http://schemas.microsoft.com/office/drawing/2014/main" id="{71B75174-434F-1BF8-E525-061EA6AA0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1231" y="67056"/>
            <a:ext cx="6209538" cy="620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What About GitHub Desktop?. “GitHub Desktop” is an application that… | by  Adam Reed | Medium">
            <a:extLst>
              <a:ext uri="{FF2B5EF4-FFF2-40B4-BE49-F238E27FC236}">
                <a16:creationId xmlns:a16="http://schemas.microsoft.com/office/drawing/2014/main" id="{2437BB04-FF4C-C461-5159-AD7B517F4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399" y="6461443"/>
            <a:ext cx="4949201" cy="537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Why WebStorm is the most productive IDE for JavaScript development | by  Aaron Janes | Medium">
            <a:extLst>
              <a:ext uri="{FF2B5EF4-FFF2-40B4-BE49-F238E27FC236}">
                <a16:creationId xmlns:a16="http://schemas.microsoft.com/office/drawing/2014/main" id="{E35DFB99-664D-0874-995F-E9EAE686E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59029">
            <a:off x="608045" y="10088044"/>
            <a:ext cx="3829050" cy="382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eact Native - Wikipedia">
            <a:extLst>
              <a:ext uri="{FF2B5EF4-FFF2-40B4-BE49-F238E27FC236}">
                <a16:creationId xmlns:a16="http://schemas.microsoft.com/office/drawing/2014/main" id="{4754158B-18A9-68CD-7EFE-A550D34DE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59960">
            <a:off x="7399168" y="12500006"/>
            <a:ext cx="4497322" cy="401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008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275</Words>
  <Application>Microsoft Office PowerPoint</Application>
  <PresentationFormat>Grand écran</PresentationFormat>
  <Paragraphs>69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Arial Rounded MT Bold</vt:lpstr>
      <vt:lpstr>Thème Office</vt:lpstr>
      <vt:lpstr>endorphine.</vt:lpstr>
      <vt:lpstr>L’équipe :</vt:lpstr>
      <vt:lpstr>L’équipe :</vt:lpstr>
      <vt:lpstr>L’idée :</vt:lpstr>
      <vt:lpstr>L’utilité :           </vt:lpstr>
      <vt:lpstr>L’innovation :</vt:lpstr>
      <vt:lpstr>Cas d’utilisation :</vt:lpstr>
      <vt:lpstr>Public cible:</vt:lpstr>
      <vt:lpstr>Environnement technique :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endorphine.</dc:title>
  <dc:creator>Benoudina, Abdel Djallil</dc:creator>
  <cp:lastModifiedBy>Benoudina, Abdel Djallil</cp:lastModifiedBy>
  <cp:revision>12</cp:revision>
  <dcterms:created xsi:type="dcterms:W3CDTF">2026-01-30T19:50:20Z</dcterms:created>
  <dcterms:modified xsi:type="dcterms:W3CDTF">2026-02-06T20:23:48Z</dcterms:modified>
</cp:coreProperties>
</file>